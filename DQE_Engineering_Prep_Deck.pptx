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1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C4FF45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1051560" cy="457200"/>
          </a:xfrm>
          <a:prstGeom prst="roundRect">
            <a:avLst>
              <a:gd name="adj" fmla="val 40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DQE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4FF45"/>
                </a:solidFill>
                <a:latin typeface="Arial"/>
              </a:rPr>
              <a:t>ONBOARDING AUTOMATION OPPORTUNITIES  ·  SECTION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Data Quality Engine (DQE)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FFFFFF"/>
                </a:solidFill>
                <a:latin typeface="Arial"/>
              </a:rPr>
              <a:t>Where the tool stands today, what it already automates, and the API access that DQE needs — alongside Auto-Provisioning and Migrations — to go further.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Tyler Linton  ·  Prep for Engineering — Automation Opportunities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DQE Today: The Current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Every discrepancy investigation today is a manual, report-driven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8483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219706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84831"/>
            <a:ext cx="598932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Customer reports a data discrepancy by opening a support case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921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97408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39211"/>
            <a:ext cx="598932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Analyst reviews the DVA to determine whether Duetto is overstating or understating revenue/occupancy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9359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72846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93591"/>
            <a:ext cx="598932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Based on the variance, the analyst follows the appropriate investigation path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797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48284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47971"/>
            <a:ext cx="598932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Analyst manually compares reservations between Duetto and the PMS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02352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237226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02352"/>
            <a:ext cx="598932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Additional PMS reports are exported as needed to identify specific issues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56731"/>
            <a:ext cx="6903720" cy="672084"/>
          </a:xfrm>
          <a:prstGeom prst="roundRect">
            <a:avLst>
              <a:gd name="adj" fmla="val 12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3232" y="5991605"/>
            <a:ext cx="402336" cy="402336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856731"/>
            <a:ext cx="5989320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0E2124"/>
                </a:solidFill>
                <a:latin typeface="Arial"/>
              </a:rPr>
              <a:t>Root cause is identified and the appropriate corrective action is taken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2084831"/>
            <a:ext cx="3913632" cy="4279392"/>
          </a:xfrm>
          <a:prstGeom prst="roundRect">
            <a:avLst>
              <a:gd name="adj" fmla="val 5000"/>
            </a:avLst>
          </a:prstGeom>
          <a:solidFill>
            <a:srgbClr val="0E2124"/>
          </a:solidFill>
          <a:ln>
            <a:noFill/>
          </a:ln>
          <a:effectLst>
            <a:outerShdw blurRad="90000" dist="25000" dir="5400000" rotWithShape="0">
              <a:srgbClr val="0E212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19" y="2331720"/>
            <a:ext cx="32735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4FF45"/>
                </a:solidFill>
                <a:latin typeface="Arial"/>
              </a:rPr>
              <a:t>INVESTIGATION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2633472"/>
            <a:ext cx="3273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1">
                <a:solidFill>
                  <a:srgbClr val="FFFFFF"/>
                </a:solidFill>
                <a:latin typeface="Arial"/>
              </a:rPr>
              <a:t>What additional PMS exports typically uncover: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3246120"/>
            <a:ext cx="3273552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Missing reservations</a:t>
            </a:r>
          </a:p>
          <a:p>
            <a:pPr indent="-182880" marL="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Rate discrepancies</a:t>
            </a:r>
          </a:p>
          <a:p>
            <a:pPr indent="-182880" marL="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Source code issues</a:t>
            </a:r>
          </a:p>
          <a:p>
            <a:pPr indent="-182880" marL="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Package, tax, or gross vs. net differences</a:t>
            </a:r>
          </a:p>
          <a:p>
            <a:pPr indent="-182880" marL="182880">
              <a:lnSpc>
                <a:spcPct val="115000"/>
              </a:lnSpc>
              <a:spcAft>
                <a:spcPts val="1400"/>
              </a:spcAft>
              <a:buClr>
                <a:srgbClr val="C4FF45"/>
              </a:buClr>
              <a:buFont typeface="Arial"/>
              <a:buChar char="–"/>
            </a:pPr>
            <a:r>
              <a:rPr sz="1300">
                <a:solidFill>
                  <a:srgbClr val="FFFFFF"/>
                </a:solidFill>
                <a:latin typeface="Arial"/>
              </a:rPr>
              <a:t>Other configuration or data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Where the DQE Tool Fits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The tool automates the analysis step — but it still depends entirely on manually exported files to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514600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95144"/>
            <a:ext cx="91440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b="1" sz="1450">
                <a:solidFill>
                  <a:srgbClr val="0E2124"/>
                </a:solidFill>
                <a:latin typeface="Arial"/>
              </a:rPr>
              <a:t>Automated root-cause classification. </a:t>
            </a:r>
            <a:r>
              <a:rPr sz="1450">
                <a:solidFill>
                  <a:srgbClr val="0E2124"/>
                </a:solidFill>
                <a:latin typeface="Arial"/>
              </a:rPr>
              <a:t>Identifies rooms/revenue variance and classifies WHY it happened — not just that it happened — using a fixed diagnostic rule set applied consistently across every analyst.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3886200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666744"/>
            <a:ext cx="91440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b="1" sz="1450">
                <a:solidFill>
                  <a:srgbClr val="0E2124"/>
                </a:solidFill>
                <a:latin typeface="Arial"/>
              </a:rPr>
              <a:t>Automated reservation-level comparison. </a:t>
            </a:r>
            <a:r>
              <a:rPr sz="1450">
                <a:solidFill>
                  <a:srgbClr val="0E2124"/>
                </a:solidFill>
                <a:latin typeface="Arial"/>
              </a:rPr>
              <a:t>Cross-references Duetto against the PMS automatically, including a new Sync Gap detection capability that determines whether a discrepancy is a true Duetto data issue or an upstream PMS sync/integration issue.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170432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5257799"/>
            <a:ext cx="438912" cy="438912"/>
          </a:xfrm>
          <a:prstGeom prst="ellipse">
            <a:avLst/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E212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5038344"/>
            <a:ext cx="9144000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b="1" sz="1450">
                <a:solidFill>
                  <a:srgbClr val="0E2124"/>
                </a:solidFill>
                <a:latin typeface="Arial"/>
              </a:rPr>
              <a:t>Automated, structured output. </a:t>
            </a:r>
            <a:r>
              <a:rPr sz="1450">
                <a:solidFill>
                  <a:srgbClr val="0E2124"/>
                </a:solidFill>
                <a:latin typeface="Arial"/>
              </a:rPr>
              <a:t>Generates a report, an Excel export, and a Monday.com audit trail automatically — replacing ad hoc analyst notes with a consistent, reviewable record.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309359"/>
            <a:ext cx="5394959" cy="566928"/>
          </a:xfrm>
          <a:prstGeom prst="roundRect">
            <a:avLst>
              <a:gd name="adj" fmla="val 50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b="1" sz="1250">
                <a:solidFill>
                  <a:srgbClr val="0E2124"/>
                </a:solidFill>
                <a:latin typeface="Arial"/>
              </a:rPr>
              <a:t>Automated today:  </a:t>
            </a:r>
            <a:r>
              <a:rPr sz="1250">
                <a:solidFill>
                  <a:srgbClr val="0E2124"/>
                </a:solidFill>
                <a:latin typeface="Arial"/>
              </a:rPr>
              <a:t>analysis &amp; root-cause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19" y="6309359"/>
            <a:ext cx="5394959" cy="566928"/>
          </a:xfrm>
          <a:prstGeom prst="roundRect">
            <a:avLst>
              <a:gd name="adj" fmla="val 50000"/>
            </a:avLst>
          </a:prstGeom>
          <a:solidFill>
            <a:srgbClr val="F8E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b="1" sz="1250">
                <a:solidFill>
                  <a:srgbClr val="B2770E"/>
                </a:solidFill>
                <a:latin typeface="Arial"/>
              </a:rPr>
              <a:t>Still manual:  </a:t>
            </a:r>
            <a:r>
              <a:rPr sz="1250">
                <a:solidFill>
                  <a:srgbClr val="B2770E"/>
                </a:solidFill>
                <a:latin typeface="Arial"/>
              </a:rPr>
              <a:t>exporting and uploading source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E2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 ·  ONBOARDING AUTOMATION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75488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Arial"/>
              </a:rPr>
              <a:t>What's Most Important to Address: The Engineering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90472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5B6B6B"/>
                </a:solidFill>
                <a:latin typeface="Arial"/>
              </a:rPr>
              <a:t>Moving DQE from reactive and report-driven to automated.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1408"/>
            <a:ext cx="3794760" cy="2788920"/>
          </a:xfrm>
          <a:prstGeom prst="roundRect">
            <a:avLst>
              <a:gd name="adj" fmla="val 6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32257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2124"/>
                </a:solidFill>
                <a:latin typeface="Arial"/>
              </a:rPr>
              <a:t>CURRENT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88336"/>
            <a:ext cx="3246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Little to no documentation of the DQE investigation process — difficult to standardize or automate</a:t>
            </a:r>
          </a:p>
          <a:p>
            <a:pPr indent="-182880" marL="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Every investigation depends on manually exporting reports from both the PMS and Duetto</a:t>
            </a:r>
          </a:p>
          <a:p>
            <a:pPr indent="-182880" marL="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No API currently exists to read (or write) the Duetto data DQE needs — this same gap blocks Auto-Provisioning and Migrations too</a:t>
            </a:r>
          </a:p>
          <a:p>
            <a:pPr indent="-182880" marL="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Result: analysts manually generate and upload reports — the workflow remains largely manual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21408"/>
            <a:ext cx="3429000" cy="2788920"/>
          </a:xfrm>
          <a:prstGeom prst="roundRect">
            <a:avLst>
              <a:gd name="adj" fmla="val 6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322576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2124"/>
                </a:solidFill>
                <a:latin typeface="Arial"/>
              </a:rP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88336"/>
            <a:ext cx="2880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indent="-182880" marL="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Eliminates the need to manually export Duetto reports</a:t>
            </a:r>
          </a:p>
          <a:p>
            <a:pPr indent="-182880" marL="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Allows DQE to retrieve required data directly</a:t>
            </a:r>
          </a:p>
          <a:p>
            <a:pPr indent="-182880" marL="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Reduces manual effort and speeds up investigations</a:t>
            </a:r>
          </a:p>
          <a:p>
            <a:pPr indent="-182880" marL="182880">
              <a:lnSpc>
                <a:spcPct val="112000"/>
              </a:lnSpc>
              <a:spcAft>
                <a:spcPts val="900"/>
              </a:spcAft>
              <a:buClr>
                <a:srgbClr val="0E2124"/>
              </a:buClr>
              <a:buFont typeface="Arial"/>
              <a:buChar char="–"/>
            </a:pPr>
            <a:r>
              <a:rPr sz="1150">
                <a:solidFill>
                  <a:srgbClr val="0E2124"/>
                </a:solidFill>
                <a:latin typeface="Arial"/>
              </a:rPr>
              <a:t>Sets up the next step: a validation layer that flags anomalies automatically, rather than just replicating manual analyst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21408"/>
            <a:ext cx="3520440" cy="2788920"/>
          </a:xfrm>
          <a:prstGeom prst="roundRect">
            <a:avLst>
              <a:gd name="adj" fmla="val 6000"/>
            </a:avLst>
          </a:prstGeom>
          <a:solidFill>
            <a:srgbClr val="0E2124"/>
          </a:solidFill>
          <a:ln>
            <a:noFill/>
          </a:ln>
          <a:effectLst>
            <a:outerShdw blurRad="90000" dist="25000" dir="5400000" rotWithShape="0">
              <a:srgbClr val="0E212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322576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C4FF45"/>
                </a:solidFill>
                <a:latin typeface="Arial"/>
              </a:rPr>
              <a:t>THE ASK  ·  ALIGNED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651760"/>
            <a:ext cx="2935224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FFFFFF"/>
                </a:solidFill>
                <a:latin typeface="Arial"/>
              </a:rPr>
              <a:t>Provide API access — to read and write — for the datasets DQE needs, as part of the same API investment already agreed for Auto-Provisioning and Migrations.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785615"/>
            <a:ext cx="2935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4FF45"/>
                </a:solidFill>
                <a:latin typeface="Arial"/>
              </a:rPr>
              <a:t>DQE DATASETS (READ)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40782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Bookings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35540" y="40782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Blocks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45354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Folio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35540" y="4535424"/>
            <a:ext cx="1330452" cy="365760"/>
          </a:xfrm>
          <a:prstGeom prst="roundRect">
            <a:avLst>
              <a:gd name="adj" fmla="val 35000"/>
            </a:avLst>
          </a:prstGeom>
          <a:solidFill>
            <a:srgbClr val="C4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0E2124"/>
                </a:solidFill>
                <a:latin typeface="Arial"/>
              </a:rPr>
              <a:t>DVA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38928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3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38928"/>
            <a:ext cx="10424160" cy="105156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>
              <a:lnSpc>
                <a:spcPct val="120000"/>
              </a:lnSpc>
            </a:pPr>
            <a:r>
              <a:rPr b="1" sz="1400">
                <a:solidFill>
                  <a:srgbClr val="0E2124"/>
                </a:solidFill>
                <a:latin typeface="Arial"/>
              </a:rPr>
              <a:t>Goal:  </a:t>
            </a:r>
            <a:r>
              <a:rPr sz="1400" i="1">
                <a:solidFill>
                  <a:srgbClr val="0E2124"/>
                </a:solidFill>
                <a:latin typeface="Arial"/>
              </a:rPr>
              <a:t>We're not asking DQE to replace analysts with AI — we're asking for the same standard, modern capability every automation project here needs. Right now we're using a postman when the ask is simply: give us email.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